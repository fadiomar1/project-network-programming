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4" d="100"/>
          <a:sy n="104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100" b="1">
                <a:solidFill>
                  <a:srgbClr val="22D3EE"/>
                </a:solidFill>
                <a:latin typeface="Aptos"/>
              </a:rPr>
              <a:t>APPRISE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0467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WordPress Notification</a:t>
            </a:r>
          </a:p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Integration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43200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Proxmox • Ubuntu Server • Docker • Containerlab • zrok • Telegram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44200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4315968"/>
            <a:ext cx="14173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453128"/>
            <a:ext cx="1417320" cy="137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Proxmox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4572000"/>
            <a:ext cx="32004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4315968"/>
            <a:ext cx="14173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4453128"/>
            <a:ext cx="1417320" cy="137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Ubuntu VM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06240" y="4572000"/>
            <a:ext cx="320039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4315968"/>
            <a:ext cx="1417320" cy="50292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4453128"/>
            <a:ext cx="1417320" cy="137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Docker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4572000"/>
            <a:ext cx="32004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80" y="4315968"/>
            <a:ext cx="1417320" cy="50292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4453128"/>
            <a:ext cx="1417320" cy="137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WordPress + Apprise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0" y="4572000"/>
            <a:ext cx="32004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2520" y="4315968"/>
            <a:ext cx="141732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32520" y="4453128"/>
            <a:ext cx="1417320" cy="137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Telegram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0332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0">
                <a:solidFill>
                  <a:srgbClr val="CBD5E1"/>
                </a:solidFill>
                <a:latin typeface="Aptos"/>
              </a:rPr>
              <a:t>A practical project combining virtualization, containers, APIs, networking, and public tunneling.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01  How the Project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04672"/>
            <a:ext cx="9692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Complete flow from user request to Telegram notification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24712"/>
            <a:ext cx="1143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2/9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2542032"/>
            <a:ext cx="704088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2542032"/>
            <a:ext cx="704088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2542032"/>
            <a:ext cx="704088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79" y="2542032"/>
            <a:ext cx="704089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418320" y="2542032"/>
            <a:ext cx="704088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4360" y="2148840"/>
            <a:ext cx="1143000" cy="7772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404872"/>
            <a:ext cx="11430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2148840"/>
            <a:ext cx="1143000" cy="7772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14600" y="2404872"/>
            <a:ext cx="11430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zrok 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148840"/>
            <a:ext cx="1143000" cy="7772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2404872"/>
            <a:ext cx="11430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WordPress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148840"/>
            <a:ext cx="1143000" cy="77724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404872"/>
            <a:ext cx="11430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Plugin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148840"/>
            <a:ext cx="1143000" cy="77724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2404872"/>
            <a:ext cx="11430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Apprise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148840"/>
            <a:ext cx="1143000" cy="7772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95560" y="2404872"/>
            <a:ext cx="11430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Telegram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794760"/>
            <a:ext cx="105613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005072"/>
            <a:ext cx="1001268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Proxmox runs the Ubuntu Server VM.</a:t>
            </a:r>
          </a:p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Docker Compose starts WordPress, MariaDB, Apprise, and Containerlab containers.</a:t>
            </a:r>
          </a:p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The WordPress plugin collects title, message, and notification type.</a:t>
            </a:r>
          </a:p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The plugin sends JSON through HTTP POST to the Apprise API.</a:t>
            </a:r>
          </a:p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Apprise forwards the message to the Telegram Bot.</a:t>
            </a:r>
          </a:p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zrok publishes the private WordPress website using a public HTTPS link.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02  Infrastructure and Running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04672"/>
            <a:ext cx="9692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Evidence from the recorded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24712"/>
            <a:ext cx="1143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3/9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855" y="1207008"/>
            <a:ext cx="6773025" cy="3959351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zrok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94" y="1170433"/>
            <a:ext cx="6806185" cy="410565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417320"/>
            <a:ext cx="425196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1737360"/>
            <a:ext cx="374903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Aptos"/>
              </a:rPr>
              <a:t>Services shown in docker 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240280"/>
            <a:ext cx="3749039" cy="2286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48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wordpress</a:t>
            </a:r>
            <a:r>
              <a:rPr dirty="0"/>
              <a:t>: Apache/PHP app</a:t>
            </a:r>
          </a:p>
          <a:p>
            <a:pPr>
              <a:spcAft>
                <a:spcPts val="648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wordpress-db</a:t>
            </a:r>
            <a:r>
              <a:rPr dirty="0"/>
              <a:t>: MariaDB database</a:t>
            </a:r>
          </a:p>
          <a:p>
            <a:pPr>
              <a:spcAft>
                <a:spcPts val="648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rPr dirty="0"/>
              <a:t>• apprise: API on port 8000</a:t>
            </a:r>
          </a:p>
          <a:p>
            <a:pPr>
              <a:spcAft>
                <a:spcPts val="648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rPr dirty="0"/>
              <a:t>• clab-router-lab-pc1/r1/pc2</a:t>
            </a:r>
          </a:p>
          <a:p>
            <a:pPr>
              <a:spcAft>
                <a:spcPts val="648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rPr dirty="0"/>
              <a:t>• External ports: 8080 and 8000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532120"/>
            <a:ext cx="10698480" cy="8686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5605272"/>
            <a:ext cx="10479024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Verification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916168"/>
            <a:ext cx="10479024" cy="4985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docker 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ps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 --format "table {{.Names}}\t{{.Image}}\t{{.Status}}\t{{.Ports}}"</a:t>
            </a:r>
          </a:p>
          <a:p>
            <a:pPr algn="l"/>
            <a:endParaRPr sz="10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curl -I http://127.0.0.1:8080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03  Containerlab Topology 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04672"/>
            <a:ext cx="9692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Full router.clab.yml used in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24712"/>
            <a:ext cx="1143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4/9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576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664208"/>
            <a:ext cx="685800" cy="3657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46504"/>
            <a:ext cx="685800" cy="91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PC1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868680" cy="1097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Aptos"/>
              </a:rPr>
              <a:t>192.168.10.2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1664208"/>
            <a:ext cx="685800" cy="36576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65960" y="1746504"/>
            <a:ext cx="685800" cy="91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121408"/>
            <a:ext cx="868680" cy="1097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Aptos"/>
              </a:rPr>
              <a:t>10.1 / 20.1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1664208"/>
            <a:ext cx="685800" cy="3657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1746504"/>
            <a:ext cx="685800" cy="91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PC2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121408"/>
            <a:ext cx="868680" cy="1097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Aptos"/>
              </a:rPr>
              <a:t>192.168.20.2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08760" y="1847088"/>
            <a:ext cx="41148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51760" y="1847088"/>
            <a:ext cx="41148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2331720"/>
            <a:ext cx="329184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Aptos"/>
              </a:rPr>
              <a:t>Two LANs connected by a Linux router with IP forwarding.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1280160"/>
            <a:ext cx="7269480" cy="52578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0288" y="1353312"/>
            <a:ext cx="7050024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router.clab.yml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1664207"/>
            <a:ext cx="7050024" cy="47459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name: router-lab</a:t>
            </a:r>
          </a:p>
          <a:p>
            <a:pPr algn="l"/>
            <a:endParaRPr sz="9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topology: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nodes: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pc1: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kind: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linux</a:t>
            </a:r>
            <a:endParaRPr sz="9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image: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alpine:latest</a:t>
            </a:r>
            <a:endParaRPr sz="9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exec: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  -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ip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link set eth1 up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  -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ip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addr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add 192.168.10.2/24 dev eth1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  -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ip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route replace 192.168.20.0/24 via 192.168.10.1</a:t>
            </a:r>
          </a:p>
          <a:p>
            <a:pPr algn="l"/>
            <a:endParaRPr sz="9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r1: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kind: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linux</a:t>
            </a:r>
            <a:endParaRPr sz="9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image: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alpine:latest</a:t>
            </a:r>
            <a:endParaRPr sz="9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sysctls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: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  net.ipv4.ip_forward: 1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exec: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  -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ip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link set eth1 up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  -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ip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link set eth2 up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  -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ip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addr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add 192.168.10.1/24 dev eth1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  -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ip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addr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add 192.168.20.1/24 dev eth2</a:t>
            </a:r>
          </a:p>
          <a:p>
            <a:pPr algn="l"/>
            <a:endParaRPr sz="9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pc2: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kind: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linux</a:t>
            </a:r>
            <a:endParaRPr sz="9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image: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alpine:latest</a:t>
            </a:r>
            <a:endParaRPr sz="9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exec: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  -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ip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link set eth1 up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  -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ip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addr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add 192.168.20.2/24 dev eth1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    -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ip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route replace 192.168.10.0/24 via 192.168.20.1</a:t>
            </a:r>
          </a:p>
          <a:p>
            <a:pPr algn="l"/>
            <a:endParaRPr sz="9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links: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- endpoints: ["pc1:eth1", "r1:eth1"]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- endpoints: ["r1:eth2", "pc2:eth1"]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880360"/>
            <a:ext cx="3657600" cy="123444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2953512"/>
            <a:ext cx="3438144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Deploy and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264408"/>
            <a:ext cx="3438144" cy="65248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dirty="0" err="1">
                <a:solidFill>
                  <a:srgbClr val="F8FAFC"/>
                </a:solidFill>
                <a:latin typeface="Courier New"/>
              </a:rPr>
              <a:t>containerlab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 deploy -t 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router.clab.yml</a:t>
            </a:r>
            <a:endParaRPr sz="10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1000" b="0" dirty="0" err="1">
                <a:solidFill>
                  <a:srgbClr val="F8FAFC"/>
                </a:solidFill>
                <a:latin typeface="Courier New"/>
              </a:rPr>
              <a:t>containerlab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 inspect -t 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router.clab.yml</a:t>
            </a:r>
            <a:endParaRPr sz="10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docker exec clab-router-lab-pc1 ping -c 4 192.168.20.2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43400"/>
            <a:ext cx="365760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32004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48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rPr dirty="0"/>
              <a:t>• pc1 route goes through 192.168.10.1</a:t>
            </a:r>
          </a:p>
          <a:p>
            <a:pPr>
              <a:spcAft>
                <a:spcPts val="648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rPr dirty="0"/>
              <a:t>• r1 has two interfaces and IP forwarding</a:t>
            </a:r>
          </a:p>
          <a:p>
            <a:pPr>
              <a:spcAft>
                <a:spcPts val="648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rPr dirty="0"/>
              <a:t>• pc2 route goes through 192.168.20.1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04  Docker Compose YAML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04672"/>
            <a:ext cx="9692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Repeatable deployment for Apprise and WordPress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24712"/>
            <a:ext cx="1143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5/9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45262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5175504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dirty="0">
                <a:solidFill>
                  <a:srgbClr val="22D3EE"/>
                </a:solidFill>
                <a:latin typeface="Aptos"/>
              </a:rPr>
              <a:t>apprise-app/docker-</a:t>
            </a:r>
            <a:r>
              <a:rPr sz="1000" b="1" dirty="0" err="1">
                <a:solidFill>
                  <a:srgbClr val="22D3EE"/>
                </a:solidFill>
                <a:latin typeface="Aptos"/>
              </a:rPr>
              <a:t>compose.yml</a:t>
            </a:r>
            <a:endParaRPr sz="1000" b="1" dirty="0">
              <a:solidFill>
                <a:srgbClr val="22D3E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1847088"/>
            <a:ext cx="5175504" cy="397647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services: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apprise: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image: </a:t>
            </a:r>
            <a:r>
              <a:rPr sz="1600" b="0" dirty="0" err="1">
                <a:solidFill>
                  <a:srgbClr val="F8FAFC"/>
                </a:solidFill>
                <a:latin typeface="Courier New"/>
              </a:rPr>
              <a:t>caronc</a:t>
            </a:r>
            <a:r>
              <a:rPr sz="1600" b="0" dirty="0">
                <a:solidFill>
                  <a:srgbClr val="F8FAFC"/>
                </a:solidFill>
                <a:latin typeface="Courier New"/>
              </a:rPr>
              <a:t>/</a:t>
            </a:r>
            <a:r>
              <a:rPr sz="1600" b="0" dirty="0" err="1">
                <a:solidFill>
                  <a:srgbClr val="F8FAFC"/>
                </a:solidFill>
                <a:latin typeface="Courier New"/>
              </a:rPr>
              <a:t>apprise:latest</a:t>
            </a:r>
            <a:endParaRPr sz="16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</a:t>
            </a:r>
            <a:r>
              <a:rPr sz="1600" b="0" dirty="0" err="1">
                <a:solidFill>
                  <a:srgbClr val="F8FAFC"/>
                </a:solidFill>
                <a:latin typeface="Courier New"/>
              </a:rPr>
              <a:t>container_name</a:t>
            </a:r>
            <a:r>
              <a:rPr sz="1600" b="0" dirty="0">
                <a:solidFill>
                  <a:srgbClr val="F8FAFC"/>
                </a:solidFill>
                <a:latin typeface="Courier New"/>
              </a:rPr>
              <a:t>: apprise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restart: unless-stopped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ports: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  - "8000:8000"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environment: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  APPRISE_STATEFUL_MODE: simple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  APPRISE_WORKER_COUNT: "1"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  APPRISE_ADMIN: "y"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  TZ: Asia/Hebron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volumes: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  - ./config:/config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  - ./plugin:/plugin</a:t>
            </a:r>
          </a:p>
          <a:p>
            <a:pPr algn="l"/>
            <a:r>
              <a:rPr sz="1600" b="0" dirty="0">
                <a:solidFill>
                  <a:srgbClr val="F8FAFC"/>
                </a:solidFill>
                <a:latin typeface="Courier New"/>
              </a:rPr>
              <a:t>      - ./attach:/attach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394960" cy="45262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1536192"/>
            <a:ext cx="5175504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wordpress-project/docker-compose.yml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1847088"/>
            <a:ext cx="5175504" cy="393030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services: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database: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image: mariadb:11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F8FAFC"/>
                </a:solidFill>
                <a:latin typeface="Courier New"/>
              </a:rPr>
              <a:t>container_name</a:t>
            </a:r>
            <a:r>
              <a:rPr sz="1100" b="0" dirty="0">
                <a:solidFill>
                  <a:srgbClr val="F8FAFC"/>
                </a:solidFill>
                <a:latin typeface="Courier New"/>
              </a:rPr>
              <a:t>: </a:t>
            </a:r>
            <a:r>
              <a:rPr sz="1100" b="0" dirty="0" err="1">
                <a:solidFill>
                  <a:srgbClr val="F8FAFC"/>
                </a:solidFill>
                <a:latin typeface="Courier New"/>
              </a:rPr>
              <a:t>wordpress-db</a:t>
            </a:r>
            <a:endParaRPr sz="11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restart: unless-stopped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environment: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  MYSQL_DATABASE: </a:t>
            </a:r>
            <a:r>
              <a:rPr sz="1100" b="0" dirty="0" err="1">
                <a:solidFill>
                  <a:srgbClr val="F8FAFC"/>
                </a:solidFill>
                <a:latin typeface="Courier New"/>
              </a:rPr>
              <a:t>wordpress</a:t>
            </a:r>
            <a:endParaRPr sz="11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  MYSQL_USER: </a:t>
            </a:r>
            <a:r>
              <a:rPr sz="1100" b="0" dirty="0" err="1">
                <a:solidFill>
                  <a:srgbClr val="F8FAFC"/>
                </a:solidFill>
                <a:latin typeface="Courier New"/>
              </a:rPr>
              <a:t>wordpress</a:t>
            </a:r>
            <a:endParaRPr sz="11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  MYSQL_PASSWORD: ********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  MYSQL_ROOT_PASSWORD: ********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volumes: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  - </a:t>
            </a:r>
            <a:r>
              <a:rPr sz="1100" b="0" dirty="0" err="1">
                <a:solidFill>
                  <a:srgbClr val="F8FAFC"/>
                </a:solidFill>
                <a:latin typeface="Courier New"/>
              </a:rPr>
              <a:t>db_data</a:t>
            </a:r>
            <a:r>
              <a:rPr sz="1100" b="0" dirty="0">
                <a:solidFill>
                  <a:srgbClr val="F8FAFC"/>
                </a:solidFill>
                <a:latin typeface="Courier New"/>
              </a:rPr>
              <a:t>:/var/lib/</a:t>
            </a:r>
            <a:r>
              <a:rPr sz="1100" b="0" dirty="0" err="1">
                <a:solidFill>
                  <a:srgbClr val="F8FAFC"/>
                </a:solidFill>
                <a:latin typeface="Courier New"/>
              </a:rPr>
              <a:t>mysql</a:t>
            </a:r>
            <a:endParaRPr sz="1100" b="0" dirty="0">
              <a:solidFill>
                <a:srgbClr val="F8FAFC"/>
              </a:solidFill>
              <a:latin typeface="Courier New"/>
            </a:endParaRPr>
          </a:p>
          <a:p>
            <a:pPr algn="l"/>
            <a:endParaRPr sz="11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</a:t>
            </a:r>
            <a:r>
              <a:rPr sz="1100" b="0" dirty="0" err="1">
                <a:solidFill>
                  <a:srgbClr val="F8FAFC"/>
                </a:solidFill>
                <a:latin typeface="Courier New"/>
              </a:rPr>
              <a:t>wordpress</a:t>
            </a:r>
            <a:r>
              <a:rPr sz="1100" b="0" dirty="0">
                <a:solidFill>
                  <a:srgbClr val="F8FAFC"/>
                </a:solidFill>
                <a:latin typeface="Courier New"/>
              </a:rPr>
              <a:t>: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image: </a:t>
            </a:r>
            <a:r>
              <a:rPr sz="1100" b="0" dirty="0" err="1">
                <a:solidFill>
                  <a:srgbClr val="F8FAFC"/>
                </a:solidFill>
                <a:latin typeface="Courier New"/>
              </a:rPr>
              <a:t>wordpress:latest</a:t>
            </a:r>
            <a:endParaRPr sz="11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F8FAFC"/>
                </a:solidFill>
                <a:latin typeface="Courier New"/>
              </a:rPr>
              <a:t>container_name</a:t>
            </a:r>
            <a:r>
              <a:rPr sz="1100" b="0" dirty="0">
                <a:solidFill>
                  <a:srgbClr val="F8FAFC"/>
                </a:solidFill>
                <a:latin typeface="Courier New"/>
              </a:rPr>
              <a:t>: </a:t>
            </a:r>
            <a:r>
              <a:rPr sz="1100" b="0" dirty="0" err="1">
                <a:solidFill>
                  <a:srgbClr val="F8FAFC"/>
                </a:solidFill>
                <a:latin typeface="Courier New"/>
              </a:rPr>
              <a:t>wordpress</a:t>
            </a:r>
            <a:endParaRPr sz="11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restart: unless-stopped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ports: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  - "8080:80"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F8FAFC"/>
                </a:solidFill>
                <a:latin typeface="Courier New"/>
              </a:rPr>
              <a:t>depends_on</a:t>
            </a:r>
            <a:r>
              <a:rPr sz="1100" b="0" dirty="0">
                <a:solidFill>
                  <a:srgbClr val="F8FAFC"/>
                </a:solidFill>
                <a:latin typeface="Courier New"/>
              </a:rPr>
              <a:t>: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  - database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volumes:</a:t>
            </a:r>
          </a:p>
          <a:p>
            <a:pPr algn="l"/>
            <a:r>
              <a:rPr sz="1100" b="0" dirty="0">
                <a:solidFill>
                  <a:srgbClr val="F8FAFC"/>
                </a:solidFill>
                <a:latin typeface="Courier New"/>
              </a:rPr>
              <a:t>      - ./</a:t>
            </a:r>
            <a:r>
              <a:rPr sz="1100" b="0" dirty="0" err="1">
                <a:solidFill>
                  <a:srgbClr val="F8FAFC"/>
                </a:solidFill>
                <a:latin typeface="Courier New"/>
              </a:rPr>
              <a:t>wordpress</a:t>
            </a:r>
            <a:r>
              <a:rPr sz="1100" b="0" dirty="0">
                <a:solidFill>
                  <a:srgbClr val="F8FAFC"/>
                </a:solidFill>
                <a:latin typeface="Courier New"/>
              </a:rPr>
              <a:t>:/var/www/html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6172200"/>
            <a:ext cx="1033272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6254496"/>
            <a:ext cx="10058400" cy="137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50" b="1">
                <a:solidFill>
                  <a:srgbClr val="22C55E"/>
                </a:solidFill>
                <a:latin typeface="Aptos"/>
              </a:rPr>
              <a:t>restart: unless-stopped allows services to return automatically after Ubuntu and Docker start.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05  Custom WordPress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04672"/>
            <a:ext cx="9692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The PHP bridge between WordPress and Apprise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24712"/>
            <a:ext cx="1143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6/9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21208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zrok_1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54480"/>
            <a:ext cx="4389120" cy="2468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417320"/>
            <a:ext cx="5577840" cy="352044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9048" y="1490472"/>
            <a:ext cx="5358383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Core HTTP POST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1801368"/>
            <a:ext cx="5358383" cy="29608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function 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fadi_apprise_send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($title, $message, $type='info') {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$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api_url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 = 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rtrim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(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get_option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(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    '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fadi_apprise_api_url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',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    'http://host.docker.internal:8000'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), '/');</a:t>
            </a:r>
          </a:p>
          <a:p>
            <a:pPr algn="l"/>
            <a:endParaRPr sz="10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$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config_key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 = 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get_option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('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fadi_apprise_config_key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', '');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$endpoint = $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api_url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 . '/notify/' . 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rawurlencode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($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config_key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);</a:t>
            </a:r>
          </a:p>
          <a:p>
            <a:pPr algn="l"/>
            <a:endParaRPr sz="1000" b="0" dirty="0">
              <a:solidFill>
                <a:srgbClr val="F8FAFC"/>
              </a:solidFill>
              <a:latin typeface="Courier New"/>
            </a:endParaRP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return 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wp_remote_post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($endpoint, array(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    'timeout' =&gt; 20,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    'headers' =&gt; array('Content-Type' =&gt; 'application/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json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'),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    'body' =&gt; </a:t>
            </a:r>
            <a:r>
              <a:rPr sz="1000" b="0" dirty="0" err="1">
                <a:solidFill>
                  <a:srgbClr val="F8FAFC"/>
                </a:solidFill>
                <a:latin typeface="Courier New"/>
              </a:rPr>
              <a:t>wp_json_encode</a:t>
            </a:r>
            <a:r>
              <a:rPr sz="1000" b="0" dirty="0">
                <a:solidFill>
                  <a:srgbClr val="F8FAFC"/>
                </a:solidFill>
                <a:latin typeface="Courier New"/>
              </a:rPr>
              <a:t>(array(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        'title' =&gt; $title,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        'body'  =&gt; $message,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        'type'  =&gt; $type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    ))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    ));</a:t>
            </a:r>
          </a:p>
          <a:p>
            <a:pPr algn="l"/>
            <a:r>
              <a:rPr sz="1000" b="0" dirty="0">
                <a:solidFill>
                  <a:srgbClr val="F8FAFC"/>
                </a:solidFill>
                <a:latin typeface="Courier New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434840"/>
            <a:ext cx="4846320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Aptos"/>
              </a:rPr>
              <a:t>What the plugin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56048"/>
            <a:ext cx="443484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48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• Reads Apprise API URL and configuration ID.</a:t>
            </a:r>
          </a:p>
          <a:p>
            <a:pPr>
              <a:spcAft>
                <a:spcPts val="648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• Builds /notify/{config-id} endpoint.</a:t>
            </a:r>
          </a:p>
          <a:p>
            <a:pPr>
              <a:spcAft>
                <a:spcPts val="648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• Sends title, body, and notification type as JSON.</a:t>
            </a:r>
          </a:p>
          <a:p>
            <a:pPr>
              <a:spcAft>
                <a:spcPts val="648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• Shows success/error feedback in WordPress.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06  Public Access with zrok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04672"/>
            <a:ext cx="9692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Publishing the private WordPress service to the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24712"/>
            <a:ext cx="1143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7/9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669280" cy="2788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zrok_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80" y="1554480"/>
            <a:ext cx="4470400" cy="2514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417320"/>
            <a:ext cx="5120640" cy="2788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691640"/>
            <a:ext cx="43891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Aptos"/>
              </a:rPr>
              <a:t>zrok command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057400"/>
            <a:ext cx="4480560" cy="50292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30568" y="2167128"/>
            <a:ext cx="4261104" cy="3200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>
                <a:solidFill>
                  <a:srgbClr val="F8FAFC"/>
                </a:solidFill>
                <a:latin typeface="Courier New"/>
              </a:rPr>
              <a:t>zrok share public http://127.0.0.1:8080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88920"/>
            <a:ext cx="4389120" cy="2103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Public URL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54096"/>
            <a:ext cx="4389120" cy="2103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https://&lt;generated&gt;.shares.zrok.io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429000"/>
            <a:ext cx="438912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48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• The zrok window must remain open.</a:t>
            </a:r>
          </a:p>
          <a:p>
            <a:pPr>
              <a:spcAft>
                <a:spcPts val="648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• No :8080 is added to the public URL.</a:t>
            </a:r>
          </a:p>
          <a:p>
            <a:pPr>
              <a:spcAft>
                <a:spcPts val="648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• WordPress uses reverse-proxy settings for HTTPS.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72000"/>
            <a:ext cx="10789920" cy="1616364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4645152"/>
            <a:ext cx="10570464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wp-config.php reverse-proxy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956048"/>
            <a:ext cx="10570464" cy="114492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if (!empty($_SERVER["HTTP_HOST"]) &amp;&amp;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strpos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($_SERVER["HTTP_HOST"], ".shares.zrok.io") !== false) {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$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zrok_host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 = 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preg_replace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("/:\d+$/", "", $_SERVER["HTTP_HOST"]);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$_SERVER["HTTP_HOST"] = $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zrok_host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;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$_SERVER["SERVER_PORT"] = 443;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$_SERVER["HTTPS"] = "on";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define("WP_HOME", "https://" . $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zrok_host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);</a:t>
            </a:r>
          </a:p>
          <a:p>
            <a:pPr algn="l"/>
            <a:r>
              <a:rPr sz="900" b="0" dirty="0">
                <a:solidFill>
                  <a:srgbClr val="F8FAFC"/>
                </a:solidFill>
                <a:latin typeface="Courier New"/>
              </a:rPr>
              <a:t>    define("WP_SITEURL", "https://" . $</a:t>
            </a:r>
            <a:r>
              <a:rPr sz="900" b="0" dirty="0" err="1">
                <a:solidFill>
                  <a:srgbClr val="F8FAFC"/>
                </a:solidFill>
                <a:latin typeface="Courier New"/>
              </a:rPr>
              <a:t>zrok_host</a:t>
            </a:r>
            <a:r>
              <a:rPr sz="900" b="0" dirty="0">
                <a:solidFill>
                  <a:srgbClr val="F8FAFC"/>
                </a:solidFill>
                <a:latin typeface="Courier New"/>
              </a:rPr>
              <a:t>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07  Proof that the Project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04672"/>
            <a:ext cx="9692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Results captured from the videos and Telegram screenshot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24712"/>
            <a:ext cx="1143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8/9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749039" cy="1965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ws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84" y="1508760"/>
            <a:ext cx="3341511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480560" y="1371600"/>
            <a:ext cx="274320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hatsApp Image 2026-08-01 at 10.38.12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699" y="1508760"/>
            <a:ext cx="1942921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52360" y="1371600"/>
            <a:ext cx="4206240" cy="1965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zrok_1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043" y="1325880"/>
            <a:ext cx="3119117" cy="1874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3657600"/>
            <a:ext cx="3749039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Observed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320040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48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• Plugin form is available in WordPress.</a:t>
            </a:r>
          </a:p>
          <a:p>
            <a:pPr>
              <a:spcAft>
                <a:spcPts val="648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• Telegram receives messages from Apprise.</a:t>
            </a:r>
          </a:p>
          <a:p>
            <a:pPr>
              <a:spcAft>
                <a:spcPts val="648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• zrok link opens WordPress publicly.</a:t>
            </a:r>
          </a:p>
          <a:p>
            <a:pPr>
              <a:spcAft>
                <a:spcPts val="648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• HTTP checks return 200/OK.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3657600"/>
            <a:ext cx="420624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79" y="3886200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Key terminal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251960"/>
            <a:ext cx="3611880" cy="1143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36407" y="4343400"/>
            <a:ext cx="3392424" cy="8448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dirty="0">
                <a:solidFill>
                  <a:srgbClr val="F8FAFC"/>
                </a:solidFill>
                <a:latin typeface="Courier New"/>
              </a:rPr>
              <a:t>HTTP/1.1 200 OK</a:t>
            </a:r>
          </a:p>
          <a:p>
            <a:pPr algn="l"/>
            <a:r>
              <a:rPr sz="1050" b="0" dirty="0">
                <a:solidFill>
                  <a:srgbClr val="F8FAFC"/>
                </a:solidFill>
                <a:latin typeface="Courier New"/>
              </a:rPr>
              <a:t>Apprise response: OK</a:t>
            </a:r>
          </a:p>
          <a:p>
            <a:pPr algn="l"/>
            <a:r>
              <a:rPr sz="1050" b="0" dirty="0">
                <a:solidFill>
                  <a:srgbClr val="F8FAFC"/>
                </a:solidFill>
                <a:latin typeface="Courier New"/>
              </a:rPr>
              <a:t>0% packet loss</a:t>
            </a:r>
          </a:p>
          <a:p>
            <a:pPr algn="l"/>
            <a:r>
              <a:rPr sz="1050" b="0" dirty="0">
                <a:solidFill>
                  <a:srgbClr val="F8FAFC"/>
                </a:solidFill>
                <a:latin typeface="Courier New"/>
              </a:rPr>
              <a:t>HTTP/2 200</a:t>
            </a:r>
          </a:p>
          <a:p>
            <a:pPr algn="l"/>
            <a:r>
              <a:rPr sz="1050" b="0" dirty="0">
                <a:solidFill>
                  <a:srgbClr val="F8FAFC"/>
                </a:solidFill>
                <a:latin typeface="Courier New"/>
              </a:rPr>
              <a:t>No syntax errors detected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08  Short Presentation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04672"/>
            <a:ext cx="9692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Use this as your spoken explanation to the doctor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24712"/>
            <a:ext cx="1143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9/9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442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58400" cy="33375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/>
              <a:t>• The project runs on an Ubuntu Server virtual machine hosted by </a:t>
            </a:r>
            <a:r>
              <a:rPr dirty="0" err="1"/>
              <a:t>Proxmox</a:t>
            </a:r>
            <a:r>
              <a:rPr dirty="0"/>
              <a:t> VE.</a:t>
            </a:r>
          </a:p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/>
              <a:t>• Docker Compose deploys WordPress, MariaDB, and Apprise API.</a:t>
            </a:r>
          </a:p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Containerlab</a:t>
            </a:r>
            <a:r>
              <a:rPr dirty="0"/>
              <a:t> creates PC1, Router R1, and PC2 from </a:t>
            </a:r>
            <a:r>
              <a:rPr dirty="0" err="1"/>
              <a:t>router.clab.yml</a:t>
            </a:r>
            <a:r>
              <a:rPr dirty="0"/>
              <a:t>.</a:t>
            </a:r>
          </a:p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/>
              <a:t>• The custom WordPress plugin sends title, message, and type to Apprise.</a:t>
            </a:r>
          </a:p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/>
              <a:t>• Apprise uses the Telegram configuration and delivers the message to the bot.</a:t>
            </a:r>
          </a:p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zrok</a:t>
            </a:r>
            <a:r>
              <a:rPr dirty="0"/>
              <a:t> publishes WordPress through a public HTTPS URL, so anyone can view the website.</a:t>
            </a:r>
          </a:p>
          <a:p>
            <a:pPr>
              <a:spcAft>
                <a:spcPts val="648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/>
              <a:t>• The demonstration proves the system by showing YAML files, running containers, successful HTTP responses, and Telegram delivery.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989320"/>
            <a:ext cx="9966960" cy="502920"/>
          </a:xfrm>
          <a:prstGeom prst="roundRect">
            <a:avLst/>
          </a:prstGeom>
          <a:solidFill>
            <a:srgbClr val="052E1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6144768"/>
            <a:ext cx="9601200" cy="137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Aptos"/>
              </a:rPr>
              <a:t>Final Result: virtualization + containers + topology + API integration + public access + real Telegram notifications.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1328</Words>
  <Application>Microsoft Office PowerPoint</Application>
  <PresentationFormat>شاشة عريضة</PresentationFormat>
  <Paragraphs>207</Paragraphs>
  <Slides>9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Courier New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vivtushp</cp:lastModifiedBy>
  <cp:revision>2</cp:revision>
  <dcterms:created xsi:type="dcterms:W3CDTF">2013-01-27T09:14:16Z</dcterms:created>
  <dcterms:modified xsi:type="dcterms:W3CDTF">2026-08-01T19:55:58Z</dcterms:modified>
  <cp:category/>
</cp:coreProperties>
</file>